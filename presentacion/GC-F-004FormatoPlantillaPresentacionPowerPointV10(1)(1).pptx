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538" r:id="rId2"/>
    <p:sldId id="535" r:id="rId3"/>
    <p:sldId id="541" r:id="rId4"/>
    <p:sldId id="537" r:id="rId5"/>
    <p:sldId id="542" r:id="rId6"/>
    <p:sldId id="536" r:id="rId7"/>
    <p:sldId id="532" r:id="rId8"/>
    <p:sldId id="531" r:id="rId9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95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18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D4D4C"/>
    <a:srgbClr val="343433"/>
    <a:srgbClr val="FF6C00"/>
    <a:srgbClr val="38AA00"/>
    <a:srgbClr val="766363"/>
    <a:srgbClr val="FFF5EA"/>
    <a:srgbClr val="0032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328"/>
    <p:restoredTop sz="97242"/>
  </p:normalViewPr>
  <p:slideViewPr>
    <p:cSldViewPr snapToGrid="0">
      <p:cViewPr varScale="1">
        <p:scale>
          <a:sx n="70" d="100"/>
          <a:sy n="70" d="100"/>
        </p:scale>
        <p:origin x="1134" y="60"/>
      </p:cViewPr>
      <p:guideLst>
        <p:guide orient="horz" pos="595"/>
        <p:guide pos="3840"/>
        <p:guide orient="horz" pos="18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97" d="100"/>
          <a:sy n="97" d="100"/>
        </p:scale>
        <p:origin x="5336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9999AFE6-721E-1D92-FFC0-72E02DBB97B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A598C0A-ECF9-B897-80D5-1AE7ABA3058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369B9F-131C-2846-AB8F-CEE154B4CAEB}" type="datetimeFigureOut">
              <a:rPr lang="es-CO" smtClean="0"/>
              <a:t>27/08/2025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88F308B-0102-A0B4-9A23-E807C735E85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E7CACDD-5D14-572A-2591-609B03F1682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93070F-3F68-E043-9CC3-B53B4F22454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7004591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60CB96-A603-FF42-AE46-F5F75F80A67B}" type="datetimeFigureOut">
              <a:rPr lang="es-CO" smtClean="0"/>
              <a:t>27/08/2025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06C58E-460D-4A4B-B0C2-1191B9D14FC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213026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95260C-E8AD-B240-9481-5B2FE14A60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8F4960B-AC04-294C-9B8A-B10830EF5F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9F720DD-BA8F-C443-A59E-F0EEAF843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27/08/2025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9A1676A-B50F-4048-B9A0-67475225D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0B408DD-191C-9940-B5DC-9B04378C8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79450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817F6C-CDBB-234C-B00B-255C60E54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9743F10-0075-0F47-A0C2-0071CB2B38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AB4C6E2-1F45-C54F-A384-6BA60BB5E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27/08/2025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F44B0E8-9C87-6C41-96F5-6419B5000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D08979-815A-D443-B424-FB031F975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422036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4B3E04-413C-394A-94BD-6FD1D56E17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2E8DEAC-948A-0F4A-9098-1EA5A30BE3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F0E9B39-9659-7747-851C-17A0C73C8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27/08/2025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990AE33-28EE-274E-8E15-02A147483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EA1D99B-0619-1847-8509-03589920E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303769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0119BB-39AA-4B48-BB60-3EE344FF2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8E8365F-8201-9D4B-85A4-E53E8819A8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674364B-4945-0A4D-A279-35519E3F46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868BFB1-0C38-A141-AB7B-22CD10FF3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27/08/2025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FF6516E-C104-3E4A-BC0F-DC137BD98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2C08597-16B2-3B42-B59A-8815DD747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425473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44272C-3F8B-AF4A-82BE-E5BE9107D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4B8DA00-E62A-A54E-BC50-AEBAAF2516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6E9F7D8-1A62-544F-A4E2-23A591854B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1895FC1-5F27-B640-81B9-33366BECB5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400D0329-F1AE-FE44-A7B4-B16B429A0C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A80CE19-B065-6E4F-A207-999BBF94C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27/08/2025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99C46BF-4920-E443-B109-668969C5E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C417FDA-D0D0-AD4C-9F49-6FFEC4BC6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6954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C92FB5-1F0C-DE4B-8A05-DE0792814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AF7F14C-AA7D-3049-A400-4AC6EED53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27/08/2025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746EF7E-3912-BF43-BEB6-49819D4EE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BD767C9-209C-E54C-90E7-5176E4464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228511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7E92712-14E7-954C-8C23-33CD3DBD7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27/08/2025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D7BCE5F-F417-1247-9F26-F4B713468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0B4FC7D-A6BA-0840-87AD-C71B1896B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416207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F2BE35-F0B5-DA4A-BE9E-AACFF26FF1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E62C38B-5384-914E-829A-352266F70B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79E434B-6E01-8148-AB00-051DDD4020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E3E8B8D-7A8A-794B-83A8-6920142BB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27/08/2025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82F34C9-1A26-0B41-8AE3-21E599CC5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82100B2-B969-0340-BEE2-F5FE05353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97146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ADFDE3-8BDA-6F45-A442-3C2913AE5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C08B3433-597C-7E43-A088-A50E443431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20DB791-C948-D149-A74A-0C0DFCA0B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145138C-C370-6E42-902A-0DD2F4F61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27/08/2025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A61561C-CA9F-0943-8A3E-60233368C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7B72CA4-FB9F-FB4B-8159-119C3846C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695029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C07BF5-7EFA-9943-8CEE-7006AC893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EFF53FB-B16B-7444-99CF-B7533C11E2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C9133D3-834D-0942-99DE-29F15E8DC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27/08/2025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A5A02E1-CB07-7943-ACA2-6FF8387D3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12BC7A9-2B5F-1841-91C8-9460E3E55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11478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C11DF48-6A7C-3349-8650-2AA87E5D5E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5D61C96-3D9F-F745-A812-5EC81CEB48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3F61D3C-242D-F544-9883-3EEF515CE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27/08/2025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CAB2518-6961-A143-A5EE-C5606EBA4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86FEAD3-1533-7A45-8011-C0C84A1DC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816216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CE09D5-8681-04F4-0AD1-7206C3FF5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EB62C8D-42BE-8DF8-DDA7-6DDCB2389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27/08/2025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9F9D5C3-AD35-C818-D069-AB2D8EBBE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106A169-E84D-2DE1-E7CC-7058F9C00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456598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6EFFBE1-33C9-1D48-A916-7535B68EC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778E02A-26CF-6C46-A280-67C4AA0551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CE7CDF9-2DDE-C04D-A9B9-78F138A1C3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986248-06F7-A441-A47A-264EBD310E11}" type="datetimeFigureOut">
              <a:rPr lang="es-CO" smtClean="0"/>
              <a:t>27/08/2025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67570B4-267C-034E-B58B-04C03C9E55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041693D-7DB1-1144-97E3-85753EC9A0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626094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75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015D167A-EE62-EA02-E6F4-53710691F485}"/>
              </a:ext>
            </a:extLst>
          </p:cNvPr>
          <p:cNvSpPr txBox="1"/>
          <p:nvPr/>
        </p:nvSpPr>
        <p:spPr>
          <a:xfrm>
            <a:off x="963672" y="2551837"/>
            <a:ext cx="645367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5400" b="1" dirty="0">
                <a:solidFill>
                  <a:prstClr val="black">
                    <a:lumMod val="75000"/>
                    <a:lumOff val="25000"/>
                  </a:prstClr>
                </a:solidFill>
                <a:latin typeface="Work Sans Bold Roman" pitchFamily="2" charset="77"/>
              </a:rPr>
              <a:t>FLEXBOX</a:t>
            </a:r>
            <a:endParaRPr kumimoji="0" lang="es-ES" sz="5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Work Sans Bold Roman" pitchFamily="2" charset="77"/>
              <a:ea typeface="+mn-ea"/>
              <a:cs typeface="+mn-cs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A251D5B8-73D3-B232-3C96-853C2628E8BA}"/>
              </a:ext>
            </a:extLst>
          </p:cNvPr>
          <p:cNvSpPr/>
          <p:nvPr/>
        </p:nvSpPr>
        <p:spPr>
          <a:xfrm>
            <a:off x="7683690" y="4271749"/>
            <a:ext cx="3367480" cy="1378424"/>
          </a:xfrm>
          <a:prstGeom prst="rect">
            <a:avLst/>
          </a:prstGeom>
          <a:noFill/>
          <a:ln w="635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FD7CACA-9E66-4843-F102-B6D487B72843}"/>
              </a:ext>
            </a:extLst>
          </p:cNvPr>
          <p:cNvSpPr txBox="1"/>
          <p:nvPr/>
        </p:nvSpPr>
        <p:spPr>
          <a:xfrm>
            <a:off x="7463359" y="4450383"/>
            <a:ext cx="39133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dirty="0">
                <a:latin typeface="Work Sans Medium Roman" pitchFamily="2" charset="77"/>
              </a:rPr>
              <a:t>S</a:t>
            </a:r>
            <a:r>
              <a:rPr lang="es-CO" sz="2000" dirty="0">
                <a:latin typeface="Work Sans Medium Roman" pitchFamily="2" charset="77"/>
              </a:rPr>
              <a:t>ergio Andrés Álvarez Lache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D212A190-8CFC-4264-64B1-C00E90097FC7}"/>
              </a:ext>
            </a:extLst>
          </p:cNvPr>
          <p:cNvSpPr txBox="1"/>
          <p:nvPr/>
        </p:nvSpPr>
        <p:spPr>
          <a:xfrm>
            <a:off x="8611738" y="5008655"/>
            <a:ext cx="305358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Ficha 3065369</a:t>
            </a:r>
            <a:endParaRPr lang="es-ES_tradnl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97260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91FEF253-53C4-B5FA-07C7-0B039B14F52F}"/>
              </a:ext>
            </a:extLst>
          </p:cNvPr>
          <p:cNvSpPr txBox="1"/>
          <p:nvPr/>
        </p:nvSpPr>
        <p:spPr>
          <a:xfrm>
            <a:off x="4469846" y="2238946"/>
            <a:ext cx="313322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O" sz="6000" b="1" dirty="0">
                <a:solidFill>
                  <a:srgbClr val="4D4D4C"/>
                </a:solidFill>
                <a:latin typeface="WORK SANS BOLD ROMAN" pitchFamily="2" charset="77"/>
              </a:rPr>
              <a:t>FLEXBOX</a:t>
            </a:r>
            <a:endParaRPr kumimoji="0" lang="es-CO" sz="7200" b="1" u="none" strike="noStrike" kern="1200" cap="none" spc="0" normalizeH="0" baseline="0" noProof="0" dirty="0">
              <a:ln>
                <a:noFill/>
              </a:ln>
              <a:solidFill>
                <a:srgbClr val="4D4D4C"/>
              </a:solidFill>
              <a:effectLst/>
              <a:uLnTx/>
              <a:uFillTx/>
              <a:latin typeface="WORK SANS BOLD ROMAN" pitchFamily="2" charset="77"/>
            </a:endParaRPr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AE0C963B-97B4-4F66-1B49-0B47BC7F0F1A}"/>
              </a:ext>
            </a:extLst>
          </p:cNvPr>
          <p:cNvCxnSpPr>
            <a:cxnSpLocks/>
          </p:cNvCxnSpPr>
          <p:nvPr/>
        </p:nvCxnSpPr>
        <p:spPr>
          <a:xfrm>
            <a:off x="4972228" y="3324314"/>
            <a:ext cx="2247544" cy="0"/>
          </a:xfrm>
          <a:prstGeom prst="line">
            <a:avLst/>
          </a:prstGeom>
          <a:ln w="12700">
            <a:solidFill>
              <a:srgbClr val="38AA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uadroTexto 3">
            <a:extLst>
              <a:ext uri="{FF2B5EF4-FFF2-40B4-BE49-F238E27FC236}">
                <a16:creationId xmlns:a16="http://schemas.microsoft.com/office/drawing/2014/main" id="{9388A4DF-720D-E501-986E-D50B788D2F61}"/>
              </a:ext>
            </a:extLst>
          </p:cNvPr>
          <p:cNvSpPr txBox="1"/>
          <p:nvPr/>
        </p:nvSpPr>
        <p:spPr>
          <a:xfrm>
            <a:off x="4168816" y="3463724"/>
            <a:ext cx="38543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s-ES" sz="1600" dirty="0"/>
              <a:t>Se realizan ajustes según las nuevas propiedades disponibles en </a:t>
            </a:r>
            <a:r>
              <a:rPr lang="es-ES" sz="1600" dirty="0" err="1"/>
              <a:t>Flexbox</a:t>
            </a:r>
            <a:r>
              <a:rPr lang="es-ES" sz="1600" dirty="0"/>
              <a:t>.</a:t>
            </a:r>
            <a:endParaRPr kumimoji="0" lang="es-CO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Work Sans Light Roman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711428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D1149976-59ED-86DE-CAFB-F26E38C394F4}"/>
              </a:ext>
            </a:extLst>
          </p:cNvPr>
          <p:cNvSpPr/>
          <p:nvPr/>
        </p:nvSpPr>
        <p:spPr>
          <a:xfrm>
            <a:off x="3548551" y="3954050"/>
            <a:ext cx="5344743" cy="9787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90000"/>
              </a:lnSpc>
              <a:spcBef>
                <a:spcPct val="0"/>
              </a:spcBef>
              <a:defRPr sz="4000"/>
            </a:pPr>
            <a:r>
              <a:rPr lang="es-ES" sz="1600" dirty="0">
                <a:solidFill>
                  <a:schemeClr val="bg1"/>
                </a:solidFill>
              </a:rPr>
              <a:t>En el proyecto Store Car se aplican cambios con </a:t>
            </a:r>
            <a:r>
              <a:rPr lang="es-ES" sz="1600" dirty="0" err="1">
                <a:solidFill>
                  <a:schemeClr val="bg1"/>
                </a:solidFill>
              </a:rPr>
              <a:t>Flexbox</a:t>
            </a:r>
            <a:r>
              <a:rPr lang="es-ES" sz="1600" dirty="0">
                <a:solidFill>
                  <a:schemeClr val="bg1"/>
                </a:solidFill>
              </a:rPr>
              <a:t> con el fin de ubicar los elementos de manera más ordenada, optimizar la presentación en diferentes resoluciones y facilitar la mantenibilidad del diseño.</a:t>
            </a:r>
            <a:endParaRPr lang="es-ES_tradnl" sz="1600" dirty="0">
              <a:solidFill>
                <a:schemeClr val="bg1"/>
              </a:solidFill>
              <a:latin typeface="WORK SANS REGULAR ROMAN" pitchFamily="2" charset="77"/>
              <a:ea typeface="+mj-ea"/>
              <a:cs typeface="+mj-cs"/>
              <a:sym typeface="Calibri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35BFFB67-C3D4-337D-C327-AB25D270EADA}"/>
              </a:ext>
            </a:extLst>
          </p:cNvPr>
          <p:cNvSpPr txBox="1"/>
          <p:nvPr/>
        </p:nvSpPr>
        <p:spPr>
          <a:xfrm>
            <a:off x="4633676" y="2539470"/>
            <a:ext cx="292464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6000" b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WORK SANS BOLD ROMAN" pitchFamily="2" charset="77"/>
              </a:rPr>
              <a:t>Objetivo</a:t>
            </a:r>
            <a:endParaRPr kumimoji="0" lang="es-CO" sz="7200" b="1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WORK SANS BOLD ROMAN" pitchFamily="2" charset="77"/>
            </a:endParaRP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38CE8666-1D2A-4D01-34E5-54FD74A39FC0}"/>
              </a:ext>
            </a:extLst>
          </p:cNvPr>
          <p:cNvCxnSpPr>
            <a:cxnSpLocks/>
          </p:cNvCxnSpPr>
          <p:nvPr/>
        </p:nvCxnSpPr>
        <p:spPr>
          <a:xfrm>
            <a:off x="5013630" y="3555133"/>
            <a:ext cx="2247544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91846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951D1C-ACAB-30A9-933A-FC96DF28A2F0}"/>
              </a:ext>
            </a:extLst>
          </p:cNvPr>
          <p:cNvSpPr txBox="1">
            <a:spLocks/>
          </p:cNvSpPr>
          <p:nvPr/>
        </p:nvSpPr>
        <p:spPr>
          <a:xfrm>
            <a:off x="608170" y="465686"/>
            <a:ext cx="2657693" cy="105499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3600" b="1" dirty="0">
                <a:solidFill>
                  <a:srgbClr val="38AA00"/>
                </a:solidFill>
                <a:latin typeface="WORK SANS BOLD ROMAN" pitchFamily="2" charset="77"/>
              </a:rPr>
              <a:t>Propiedades Flexbox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F6697F3-B1A3-FADB-1243-D89866428CB1}"/>
              </a:ext>
            </a:extLst>
          </p:cNvPr>
          <p:cNvSpPr txBox="1"/>
          <p:nvPr/>
        </p:nvSpPr>
        <p:spPr>
          <a:xfrm>
            <a:off x="491908" y="2203545"/>
            <a:ext cx="3854368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s-ES" sz="1600" dirty="0">
                <a:latin typeface="Work Sans Light Roman" pitchFamily="2" charset="77"/>
              </a:rPr>
              <a:t>En la clase .</a:t>
            </a:r>
            <a:r>
              <a:rPr lang="es-ES" sz="1600" dirty="0" err="1">
                <a:latin typeface="Work Sans Light Roman" pitchFamily="2" charset="77"/>
              </a:rPr>
              <a:t>header</a:t>
            </a:r>
            <a:r>
              <a:rPr lang="es-ES" sz="1600" dirty="0">
                <a:latin typeface="Work Sans Light Roman" pitchFamily="2" charset="77"/>
              </a:rPr>
              <a:t> se implementa </a:t>
            </a:r>
            <a:r>
              <a:rPr lang="es-ES" sz="1600" dirty="0" err="1">
                <a:latin typeface="Work Sans Light Roman" pitchFamily="2" charset="77"/>
              </a:rPr>
              <a:t>Flexbox</a:t>
            </a:r>
            <a:r>
              <a:rPr lang="es-ES" sz="1600" dirty="0">
                <a:latin typeface="Work Sans Light Roman" pitchFamily="2" charset="77"/>
              </a:rPr>
              <a:t> para distribuir el espacio entre el texto y el menú de navegación. Además, se ajustan los textos para que mantengan flexibilidad en diferentes resoluciones.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s-ES" sz="1600" dirty="0">
                <a:latin typeface="Work Sans Light Roman" pitchFamily="2" charset="77"/>
              </a:rPr>
              <a:t>En este fragmento de código se aplica </a:t>
            </a:r>
            <a:r>
              <a:rPr lang="es-ES" sz="1600" dirty="0" err="1">
                <a:latin typeface="Work Sans Light Roman" pitchFamily="2" charset="77"/>
              </a:rPr>
              <a:t>Flexbox</a:t>
            </a:r>
            <a:r>
              <a:rPr lang="es-ES" sz="1600" dirty="0">
                <a:latin typeface="Work Sans Light Roman" pitchFamily="2" charset="77"/>
              </a:rPr>
              <a:t> a la clase .</a:t>
            </a:r>
            <a:r>
              <a:rPr lang="es-ES" sz="1600" dirty="0" err="1">
                <a:latin typeface="Work Sans Light Roman" pitchFamily="2" charset="77"/>
              </a:rPr>
              <a:t>hero</a:t>
            </a:r>
            <a:r>
              <a:rPr lang="es-ES" sz="1600" dirty="0">
                <a:latin typeface="Work Sans Light Roman" pitchFamily="2" charset="77"/>
              </a:rPr>
              <a:t>__</a:t>
            </a:r>
            <a:r>
              <a:rPr lang="es-ES" sz="1600" dirty="0" err="1">
                <a:latin typeface="Work Sans Light Roman" pitchFamily="2" charset="77"/>
              </a:rPr>
              <a:t>title</a:t>
            </a:r>
            <a:r>
              <a:rPr lang="es-ES" sz="1600" dirty="0">
                <a:latin typeface="Work Sans Light Roman" pitchFamily="2" charset="77"/>
              </a:rPr>
              <a:t> para controlar la forma en que se organizan sus elementos internos.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s-ES" sz="1600" dirty="0">
                <a:latin typeface="Work Sans Light Roman" pitchFamily="2" charset="77"/>
              </a:rPr>
              <a:t>En la clase .</a:t>
            </a:r>
            <a:r>
              <a:rPr lang="es-ES" sz="1600" dirty="0" err="1">
                <a:latin typeface="Work Sans Light Roman" pitchFamily="2" charset="77"/>
              </a:rPr>
              <a:t>hero</a:t>
            </a:r>
            <a:r>
              <a:rPr lang="es-ES" sz="1600" dirty="0">
                <a:latin typeface="Work Sans Light Roman" pitchFamily="2" charset="77"/>
              </a:rPr>
              <a:t>__</a:t>
            </a:r>
            <a:r>
              <a:rPr lang="es-ES" sz="1600" dirty="0" err="1">
                <a:latin typeface="Work Sans Light Roman" pitchFamily="2" charset="77"/>
              </a:rPr>
              <a:t>text</a:t>
            </a:r>
            <a:r>
              <a:rPr lang="es-ES" sz="1600" dirty="0">
                <a:latin typeface="Work Sans Light Roman" pitchFamily="2" charset="77"/>
              </a:rPr>
              <a:t> se utiliza </a:t>
            </a:r>
            <a:r>
              <a:rPr lang="es-ES" sz="1600" dirty="0" err="1">
                <a:latin typeface="Work Sans Light Roman" pitchFamily="2" charset="77"/>
              </a:rPr>
              <a:t>Flexbox</a:t>
            </a:r>
            <a:r>
              <a:rPr lang="es-ES" sz="1600" dirty="0">
                <a:latin typeface="Work Sans Light Roman" pitchFamily="2" charset="77"/>
              </a:rPr>
              <a:t> para organizar sus elementos internos.</a:t>
            </a:r>
          </a:p>
          <a:p>
            <a:pPr algn="just"/>
            <a:endParaRPr lang="es-ES" sz="1600" dirty="0">
              <a:latin typeface="Work Sans Light Roman" pitchFamily="2" charset="77"/>
            </a:endParaRPr>
          </a:p>
          <a:p>
            <a:pPr algn="just"/>
            <a:endParaRPr lang="es-ES" sz="1600" dirty="0">
              <a:latin typeface="Work Sans Light Roman" pitchFamily="2" charset="77"/>
            </a:endParaRPr>
          </a:p>
          <a:p>
            <a:endParaRPr lang="es-ES" sz="1600" dirty="0">
              <a:latin typeface="Work Sans Light Roman" pitchFamily="2" charset="77"/>
            </a:endParaRPr>
          </a:p>
          <a:p>
            <a:endParaRPr lang="es-CO" sz="1600" dirty="0">
              <a:latin typeface="Work Sans Light Roman" pitchFamily="2" charset="77"/>
            </a:endParaRP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669DD18A-AB54-34AC-A662-0BDC60B050FF}"/>
              </a:ext>
            </a:extLst>
          </p:cNvPr>
          <p:cNvCxnSpPr>
            <a:cxnSpLocks/>
          </p:cNvCxnSpPr>
          <p:nvPr/>
        </p:nvCxnSpPr>
        <p:spPr>
          <a:xfrm>
            <a:off x="717352" y="1644964"/>
            <a:ext cx="1425934" cy="0"/>
          </a:xfrm>
          <a:prstGeom prst="line">
            <a:avLst/>
          </a:prstGeom>
          <a:ln w="12700">
            <a:solidFill>
              <a:srgbClr val="4D4D4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Imagen 4">
            <a:extLst>
              <a:ext uri="{FF2B5EF4-FFF2-40B4-BE49-F238E27FC236}">
                <a16:creationId xmlns:a16="http://schemas.microsoft.com/office/drawing/2014/main" id="{8CF796E1-D75F-4E5D-9E06-AE19B39DBE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9021" y="1201855"/>
            <a:ext cx="6981071" cy="1484764"/>
          </a:xfrm>
          <a:prstGeom prst="rect">
            <a:avLst/>
          </a:prstGeom>
        </p:spPr>
      </p:pic>
      <p:sp>
        <p:nvSpPr>
          <p:cNvPr id="12" name="Rectángulo 11">
            <a:extLst>
              <a:ext uri="{FF2B5EF4-FFF2-40B4-BE49-F238E27FC236}">
                <a16:creationId xmlns:a16="http://schemas.microsoft.com/office/drawing/2014/main" id="{161B97F3-2DF9-4A27-85B5-955F94026FE5}"/>
              </a:ext>
            </a:extLst>
          </p:cNvPr>
          <p:cNvSpPr/>
          <p:nvPr/>
        </p:nvSpPr>
        <p:spPr>
          <a:xfrm>
            <a:off x="3048000" y="2828836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CO" dirty="0">
                <a:solidFill>
                  <a:srgbClr val="D7BA7D"/>
                </a:solidFill>
                <a:latin typeface="JetBrains Mono NL" panose="02000009000000000000" pitchFamily="49" charset="0"/>
              </a:rPr>
              <a:t>. </a:t>
            </a:r>
            <a:endParaRPr lang="es-CO" b="0" dirty="0">
              <a:solidFill>
                <a:srgbClr val="CCCCCC"/>
              </a:solidFill>
              <a:effectLst/>
              <a:latin typeface="JetBrains Mono NL" panose="02000009000000000000" pitchFamily="49" charset="0"/>
            </a:endParaRP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740E6960-398F-4865-944E-5DEA077FE1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9021" y="2809352"/>
            <a:ext cx="6981071" cy="1593355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6249AD69-6F50-420A-8459-703BFE8016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9021" y="4612331"/>
            <a:ext cx="6981070" cy="1788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80001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A9DEAF45-54BD-419B-8333-7063E4EC4C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3584" y="3429000"/>
            <a:ext cx="6791864" cy="1702946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5F8973B7-D705-496E-8826-39D2383DDA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3584" y="984033"/>
            <a:ext cx="6791864" cy="1889957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80320B58-4918-4C1E-BE0B-3F9237BD7D41}"/>
              </a:ext>
            </a:extLst>
          </p:cNvPr>
          <p:cNvSpPr txBox="1"/>
          <p:nvPr/>
        </p:nvSpPr>
        <p:spPr>
          <a:xfrm>
            <a:off x="497370" y="2288205"/>
            <a:ext cx="3854368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s-ES" sz="1600" dirty="0">
                <a:latin typeface="Work Sans Light Roman" pitchFamily="2" charset="77"/>
              </a:rPr>
              <a:t>En la tarjeta con la clase .</a:t>
            </a:r>
            <a:r>
              <a:rPr lang="es-ES" sz="1600" dirty="0" err="1">
                <a:latin typeface="Work Sans Light Roman" pitchFamily="2" charset="77"/>
              </a:rPr>
              <a:t>product-list</a:t>
            </a:r>
            <a:r>
              <a:rPr lang="es-ES" sz="1600" dirty="0">
                <a:latin typeface="Work Sans Light Roman" pitchFamily="2" charset="77"/>
              </a:rPr>
              <a:t> se implementan estilos flexibles para mejorar la distribución de su contenido.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s-ES" sz="1600" dirty="0">
                <a:latin typeface="Work Sans Light Roman" pitchFamily="2" charset="77"/>
              </a:rPr>
              <a:t>En las tarjetas .producto-</a:t>
            </a:r>
            <a:r>
              <a:rPr lang="es-ES" sz="1600" dirty="0" err="1">
                <a:latin typeface="Work Sans Light Roman" pitchFamily="2" charset="77"/>
              </a:rPr>
              <a:t>list</a:t>
            </a:r>
            <a:r>
              <a:rPr lang="es-ES" sz="1600" dirty="0">
                <a:latin typeface="Work Sans Light Roman" pitchFamily="2" charset="77"/>
              </a:rPr>
              <a:t>__ítem, el contenido se estructura en columna para lograr una distribución más ordenada</a:t>
            </a:r>
            <a:endParaRPr lang="es-CO" sz="1600" dirty="0">
              <a:latin typeface="Work Sans Light Roman" pitchFamily="2" charset="77"/>
            </a:endParaRPr>
          </a:p>
          <a:p>
            <a:pPr algn="just"/>
            <a:r>
              <a:rPr lang="es-CO" sz="1600" dirty="0">
                <a:latin typeface="Work Sans Light Roman" pitchFamily="2" charset="77"/>
              </a:rPr>
              <a:t> </a:t>
            </a:r>
          </a:p>
          <a:p>
            <a:pPr algn="just"/>
            <a:endParaRPr lang="es-CO" sz="1600" dirty="0">
              <a:latin typeface="Work Sans Light Roman" pitchFamily="2" charset="77"/>
            </a:endParaRPr>
          </a:p>
          <a:p>
            <a:endParaRPr lang="es-CO" sz="1600" dirty="0">
              <a:latin typeface="Work Sans Light Roman" pitchFamily="2" charset="77"/>
            </a:endParaRPr>
          </a:p>
          <a:p>
            <a:endParaRPr lang="es-CO" sz="1600" dirty="0">
              <a:latin typeface="Work Sans Light Roman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6511243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CE75F1-F343-8856-BC69-4BB6B82BF3E4}"/>
              </a:ext>
            </a:extLst>
          </p:cNvPr>
          <p:cNvSpPr txBox="1">
            <a:spLocks/>
          </p:cNvSpPr>
          <p:nvPr/>
        </p:nvSpPr>
        <p:spPr>
          <a:xfrm>
            <a:off x="865669" y="555343"/>
            <a:ext cx="9815809" cy="741563"/>
          </a:xfrm>
          <a:prstGeom prst="rect">
            <a:avLst/>
          </a:prstGeom>
          <a:ln>
            <a:noFill/>
          </a:ln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O" sz="3600" b="1" dirty="0">
                <a:solidFill>
                  <a:srgbClr val="4D4D4C"/>
                </a:solidFill>
                <a:latin typeface="WORK SANS BOLD ROMAN" pitchFamily="2" charset="77"/>
              </a:rPr>
              <a:t>Dificultades</a:t>
            </a:r>
            <a:endParaRPr kumimoji="0" lang="es-CO" sz="3600" b="1" u="none" strike="noStrike" kern="1200" cap="none" spc="0" normalizeH="0" baseline="0" noProof="0" dirty="0">
              <a:ln>
                <a:noFill/>
              </a:ln>
              <a:solidFill>
                <a:srgbClr val="4D4D4C"/>
              </a:solidFill>
              <a:effectLst/>
              <a:uLnTx/>
              <a:uFillTx/>
              <a:latin typeface="WORK SANS BOLD ROMAN" pitchFamily="2" charset="77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6C31FC2-6C63-0CB9-C78D-1723D5E9DD66}"/>
              </a:ext>
            </a:extLst>
          </p:cNvPr>
          <p:cNvSpPr txBox="1"/>
          <p:nvPr/>
        </p:nvSpPr>
        <p:spPr>
          <a:xfrm>
            <a:off x="688247" y="1774578"/>
            <a:ext cx="5518437" cy="3847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AutoNum type="arabicPeriod"/>
            </a:pPr>
            <a:r>
              <a:rPr lang="es-ES" sz="1600" dirty="0">
                <a:latin typeface="Work Sans Light Roman" pitchFamily="2" charset="77"/>
              </a:rPr>
              <a:t>Al utilizar la propiedad </a:t>
            </a:r>
            <a:r>
              <a:rPr lang="es-ES" sz="1600" dirty="0" err="1">
                <a:latin typeface="Work Sans Light Roman" pitchFamily="2" charset="77"/>
              </a:rPr>
              <a:t>Flexbox</a:t>
            </a:r>
            <a:r>
              <a:rPr lang="es-ES" sz="1600" dirty="0">
                <a:latin typeface="Work Sans Light Roman" pitchFamily="2" charset="77"/>
              </a:rPr>
              <a:t>, el contenido de las tarjetas se separó de las imágenes, lo que obligó a realizar ajustes adicionales en la maquetación. Para organizar las tarjetas en fila fue necesario aplicar las propiedades </a:t>
            </a:r>
            <a:r>
              <a:rPr lang="es-ES" sz="1600" dirty="0" err="1">
                <a:latin typeface="Work Sans Light Roman" pitchFamily="2" charset="77"/>
              </a:rPr>
              <a:t>flex-direction</a:t>
            </a:r>
            <a:r>
              <a:rPr lang="es-ES" sz="1600" dirty="0">
                <a:latin typeface="Work Sans Light Roman" pitchFamily="2" charset="77"/>
              </a:rPr>
              <a:t> y </a:t>
            </a:r>
            <a:r>
              <a:rPr lang="es-ES" sz="1600" dirty="0" err="1">
                <a:latin typeface="Work Sans Light Roman" pitchFamily="2" charset="77"/>
              </a:rPr>
              <a:t>flex-wrap</a:t>
            </a:r>
            <a:r>
              <a:rPr lang="es-ES" sz="1600" dirty="0">
                <a:latin typeface="Work Sans Light Roman" pitchFamily="2" charset="77"/>
              </a:rPr>
              <a:t>.</a:t>
            </a:r>
          </a:p>
          <a:p>
            <a:pPr marL="342900" indent="-342900" algn="just">
              <a:buAutoNum type="arabicPeriod"/>
            </a:pPr>
            <a:r>
              <a:rPr lang="es-ES" sz="1600" dirty="0">
                <a:latin typeface="Work Sans Light Roman" pitchFamily="2" charset="77"/>
              </a:rPr>
              <a:t>La alineación vertical de los elementos puede resultar confusa al combinar propiedades como </a:t>
            </a:r>
            <a:r>
              <a:rPr lang="es-ES" sz="1600" dirty="0" err="1">
                <a:latin typeface="Work Sans Light Roman" pitchFamily="2" charset="77"/>
              </a:rPr>
              <a:t>align-items</a:t>
            </a:r>
            <a:r>
              <a:rPr lang="es-ES" sz="1600" dirty="0">
                <a:latin typeface="Work Sans Light Roman" pitchFamily="2" charset="77"/>
              </a:rPr>
              <a:t> y </a:t>
            </a:r>
            <a:r>
              <a:rPr lang="es-ES" sz="1600" dirty="0" err="1">
                <a:latin typeface="Work Sans Light Roman" pitchFamily="2" charset="77"/>
              </a:rPr>
              <a:t>justify-content</a:t>
            </a:r>
            <a:r>
              <a:rPr lang="es-ES" sz="1600" dirty="0">
                <a:latin typeface="Work Sans Light Roman" pitchFamily="2" charset="77"/>
              </a:rPr>
              <a:t>.</a:t>
            </a:r>
          </a:p>
          <a:p>
            <a:pPr marL="342900" indent="-342900" algn="just">
              <a:buAutoNum type="arabicPeriod"/>
            </a:pPr>
            <a:r>
              <a:rPr lang="es-ES" sz="1600" dirty="0">
                <a:latin typeface="Work Sans Light Roman" pitchFamily="2" charset="77"/>
              </a:rPr>
              <a:t>En diseños con muchos elementos, algunos contenedores no se ajustan como se espera, lo que genera desbordes o espacios vacíos.</a:t>
            </a:r>
          </a:p>
          <a:p>
            <a:pPr marL="342900" indent="-342900" algn="just">
              <a:buAutoNum type="arabicPeriod"/>
            </a:pPr>
            <a:r>
              <a:rPr lang="es-ES" sz="1600" dirty="0"/>
              <a:t>La compatibilidad entre navegadores antiguos puede ocasionar inconsistencias en la visualización.</a:t>
            </a:r>
            <a:endParaRPr lang="es-CO" sz="1600" dirty="0">
              <a:latin typeface="Work Sans Light Roman" pitchFamily="2" charset="77"/>
            </a:endParaRPr>
          </a:p>
          <a:p>
            <a:pPr marL="342900" indent="-342900">
              <a:buAutoNum type="arabicPeriod"/>
            </a:pPr>
            <a:endParaRPr lang="es-CO" sz="1600" dirty="0">
              <a:latin typeface="Work Sans Light Roman" pitchFamily="2" charset="77"/>
            </a:endParaRPr>
          </a:p>
          <a:p>
            <a:pPr marL="342900" indent="-342900">
              <a:buAutoNum type="arabicPeriod"/>
            </a:pPr>
            <a:endParaRPr lang="es-CO" sz="1600" dirty="0">
              <a:latin typeface="Work Sans Light Roman" pitchFamily="2" charset="77"/>
            </a:endParaRPr>
          </a:p>
        </p:txBody>
      </p:sp>
      <p:pic>
        <p:nvPicPr>
          <p:cNvPr id="6" name="Imagen 5" descr="Pantalla azul con letras blancas&#10;&#10;El contenido generado por IA puede ser incorrecto.">
            <a:extLst>
              <a:ext uri="{FF2B5EF4-FFF2-40B4-BE49-F238E27FC236}">
                <a16:creationId xmlns:a16="http://schemas.microsoft.com/office/drawing/2014/main" id="{A89E6AD6-2DF5-D0A3-B7EA-740ED22B17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1939" y="1818202"/>
            <a:ext cx="5210125" cy="3221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80581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BB6F714C-A6B0-54AE-507A-D0700714D94B}"/>
              </a:ext>
            </a:extLst>
          </p:cNvPr>
          <p:cNvSpPr txBox="1">
            <a:spLocks/>
          </p:cNvSpPr>
          <p:nvPr/>
        </p:nvSpPr>
        <p:spPr>
          <a:xfrm>
            <a:off x="456236" y="416690"/>
            <a:ext cx="9815809" cy="52787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3600" b="1" dirty="0">
                <a:solidFill>
                  <a:prstClr val="white"/>
                </a:solidFill>
                <a:latin typeface="WORK SANS BOLD ROMAN" pitchFamily="2" charset="77"/>
              </a:rPr>
              <a:t>R</a:t>
            </a:r>
            <a:r>
              <a:rPr lang="es-CO" sz="3600" b="1" dirty="0" err="1">
                <a:solidFill>
                  <a:prstClr val="white"/>
                </a:solidFill>
                <a:latin typeface="WORK SANS BOLD ROMAN" pitchFamily="2" charset="77"/>
              </a:rPr>
              <a:t>esultados</a:t>
            </a:r>
            <a:endParaRPr kumimoji="0" lang="es-CO" sz="3600" b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WORK SANS BOLD ROMAN" pitchFamily="2" charset="77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065F58A-46D6-4B59-B410-86080F169C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0762" y="3719016"/>
            <a:ext cx="6546019" cy="2346879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98672F5B-1C5F-D5F0-67F1-3BBA2FE10F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98135" y="1378424"/>
            <a:ext cx="2678321" cy="4967352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4320CAF6-31F8-A238-2BD5-BDD577CF7996}"/>
              </a:ext>
            </a:extLst>
          </p:cNvPr>
          <p:cNvSpPr txBox="1"/>
          <p:nvPr/>
        </p:nvSpPr>
        <p:spPr>
          <a:xfrm>
            <a:off x="1202919" y="1658003"/>
            <a:ext cx="6670344" cy="14809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dirty="0"/>
              <a:t>En la Store Car, se aplicaron cambios utilizando </a:t>
            </a:r>
            <a:r>
              <a:rPr lang="es-ES" dirty="0" err="1"/>
              <a:t>Flexbox</a:t>
            </a:r>
            <a:r>
              <a:rPr lang="es-ES" dirty="0"/>
              <a:t> para mejorar el diseño y la presentación del sitio web. El objetivo principal fue organizar los elementos de manera más ordenada, optimizar la visualización en diferentes resoluciones de pantalla y simplificar el mantenimiento del diseño.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2692924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462668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4314</TotalTime>
  <Words>324</Words>
  <Application>Microsoft Office PowerPoint</Application>
  <PresentationFormat>Panorámica</PresentationFormat>
  <Paragraphs>25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10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9" baseType="lpstr">
      <vt:lpstr>Arial</vt:lpstr>
      <vt:lpstr>Calibri</vt:lpstr>
      <vt:lpstr>Calibri Light</vt:lpstr>
      <vt:lpstr>JetBrains Mono NL</vt:lpstr>
      <vt:lpstr>Wingdings</vt:lpstr>
      <vt:lpstr>WORK SANS BOLD ROMAN</vt:lpstr>
      <vt:lpstr>WORK SANS BOLD ROMAN</vt:lpstr>
      <vt:lpstr>Work Sans Light Roman</vt:lpstr>
      <vt:lpstr>Work Sans Medium Roman</vt:lpstr>
      <vt:lpstr>WORK SANS REGULAR ROMAN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Jorge Enrique Pedraza Sanchez</dc:creator>
  <cp:lastModifiedBy>DELL</cp:lastModifiedBy>
  <cp:revision>73</cp:revision>
  <dcterms:created xsi:type="dcterms:W3CDTF">2020-10-01T23:51:28Z</dcterms:created>
  <dcterms:modified xsi:type="dcterms:W3CDTF">2025-08-27T20:23:20Z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299739c-ad3d-4908-806e-4d91151a6e13_Enabled">
    <vt:lpwstr>true</vt:lpwstr>
  </property>
  <property fmtid="{D5CDD505-2E9C-101B-9397-08002B2CF9AE}" pid="3" name="MSIP_Label_1299739c-ad3d-4908-806e-4d91151a6e13_Method">
    <vt:lpwstr>Standard</vt:lpwstr>
  </property>
  <property fmtid="{D5CDD505-2E9C-101B-9397-08002B2CF9AE}" pid="4" name="MSIP_Label_1299739c-ad3d-4908-806e-4d91151a6e13_Name">
    <vt:lpwstr>All Employees (Unrestricted)</vt:lpwstr>
  </property>
  <property fmtid="{D5CDD505-2E9C-101B-9397-08002B2CF9AE}" pid="5" name="MSIP_Label_1299739c-ad3d-4908-806e-4d91151a6e13_SiteId">
    <vt:lpwstr>cbc2c381-2f2e-4d93-91d1-506c9316ace7</vt:lpwstr>
  </property>
  <property fmtid="{D5CDD505-2E9C-101B-9397-08002B2CF9AE}" pid="6" name="MSIP_Label_1299739c-ad3d-4908-806e-4d91151a6e13_ContentBits">
    <vt:lpwstr>0</vt:lpwstr>
  </property>
  <property fmtid="{D5CDD505-2E9C-101B-9397-08002B2CF9AE}" pid="7" name="MSIP_Label_1299739c-ad3d-4908-806e-4d91151a6e13_SetDate">
    <vt:lpwstr>2022-08-12T19:17:55Z</vt:lpwstr>
  </property>
  <property fmtid="{D5CDD505-2E9C-101B-9397-08002B2CF9AE}" pid="8" name="MSIP_Label_1299739c-ad3d-4908-806e-4d91151a6e13_ActionId">
    <vt:lpwstr>8c6bc714-34a9-4b82-914e-50b1377a2da4</vt:lpwstr>
  </property>
</Properties>
</file>