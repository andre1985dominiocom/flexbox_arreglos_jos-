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538" r:id="rId2"/>
    <p:sldId id="535" r:id="rId3"/>
    <p:sldId id="541" r:id="rId4"/>
    <p:sldId id="537" r:id="rId5"/>
    <p:sldId id="542" r:id="rId6"/>
    <p:sldId id="543" r:id="rId7"/>
    <p:sldId id="536" r:id="rId8"/>
    <p:sldId id="532" r:id="rId9"/>
    <p:sldId id="531" r:id="rId10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5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8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AA00"/>
    <a:srgbClr val="4D4D4C"/>
    <a:srgbClr val="343433"/>
    <a:srgbClr val="FF6C00"/>
    <a:srgbClr val="766363"/>
    <a:srgbClr val="FFF5EA"/>
    <a:srgbClr val="0032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328"/>
    <p:restoredTop sz="97242"/>
  </p:normalViewPr>
  <p:slideViewPr>
    <p:cSldViewPr snapToGrid="0">
      <p:cViewPr varScale="1">
        <p:scale>
          <a:sx n="70" d="100"/>
          <a:sy n="70" d="100"/>
        </p:scale>
        <p:origin x="1134" y="60"/>
      </p:cViewPr>
      <p:guideLst>
        <p:guide orient="horz" pos="595"/>
        <p:guide pos="3840"/>
        <p:guide orient="horz" pos="18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533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30/08/2025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15D167A-EE62-EA02-E6F4-53710691F485}"/>
              </a:ext>
            </a:extLst>
          </p:cNvPr>
          <p:cNvSpPr txBox="1"/>
          <p:nvPr/>
        </p:nvSpPr>
        <p:spPr>
          <a:xfrm>
            <a:off x="963672" y="2551837"/>
            <a:ext cx="64536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 pitchFamily="2" charset="77"/>
              </a:rPr>
              <a:t>FLEXBOX</a:t>
            </a:r>
            <a:endParaRPr kumimoji="0" lang="es-ES" sz="5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 pitchFamily="2" charset="77"/>
              <a:ea typeface="+mn-ea"/>
              <a:cs typeface="+mn-cs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51D5B8-73D3-B232-3C96-853C2628E8BA}"/>
              </a:ext>
            </a:extLst>
          </p:cNvPr>
          <p:cNvSpPr/>
          <p:nvPr/>
        </p:nvSpPr>
        <p:spPr>
          <a:xfrm>
            <a:off x="7683690" y="4271749"/>
            <a:ext cx="3367480" cy="1378424"/>
          </a:xfrm>
          <a:prstGeom prst="rect">
            <a:avLst/>
          </a:prstGeom>
          <a:noFill/>
          <a:ln w="635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FD7CACA-9E66-4843-F102-B6D487B72843}"/>
              </a:ext>
            </a:extLst>
          </p:cNvPr>
          <p:cNvSpPr txBox="1"/>
          <p:nvPr/>
        </p:nvSpPr>
        <p:spPr>
          <a:xfrm>
            <a:off x="7463359" y="4450383"/>
            <a:ext cx="39133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dirty="0">
                <a:latin typeface="Work Sans Medium Roman" pitchFamily="2" charset="77"/>
              </a:rPr>
              <a:t>S</a:t>
            </a:r>
            <a:r>
              <a:rPr lang="es-CO" sz="2000" dirty="0">
                <a:latin typeface="Work Sans Medium Roman" pitchFamily="2" charset="77"/>
              </a:rPr>
              <a:t>ergio Andrés Álvarez Lache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212A190-8CFC-4264-64B1-C00E90097FC7}"/>
              </a:ext>
            </a:extLst>
          </p:cNvPr>
          <p:cNvSpPr txBox="1"/>
          <p:nvPr/>
        </p:nvSpPr>
        <p:spPr>
          <a:xfrm>
            <a:off x="8611738" y="5008655"/>
            <a:ext cx="30535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Ficha 3065369</a:t>
            </a:r>
            <a:endParaRPr lang="es-ES_tradnl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9726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1FEF253-53C4-B5FA-07C7-0B039B14F52F}"/>
              </a:ext>
            </a:extLst>
          </p:cNvPr>
          <p:cNvSpPr txBox="1"/>
          <p:nvPr/>
        </p:nvSpPr>
        <p:spPr>
          <a:xfrm>
            <a:off x="4469846" y="2238946"/>
            <a:ext cx="31332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6000" b="1" dirty="0">
                <a:solidFill>
                  <a:srgbClr val="4D4D4C"/>
                </a:solidFill>
                <a:latin typeface="WORK SANS BOLD ROMAN" pitchFamily="2" charset="77"/>
              </a:rPr>
              <a:t>FLEXBOX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AE0C963B-97B4-4F66-1B49-0B47BC7F0F1A}"/>
              </a:ext>
            </a:extLst>
          </p:cNvPr>
          <p:cNvCxnSpPr>
            <a:cxnSpLocks/>
          </p:cNvCxnSpPr>
          <p:nvPr/>
        </p:nvCxnSpPr>
        <p:spPr>
          <a:xfrm>
            <a:off x="4972228" y="3324314"/>
            <a:ext cx="2247544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9388A4DF-720D-E501-986E-D50B788D2F61}"/>
              </a:ext>
            </a:extLst>
          </p:cNvPr>
          <p:cNvSpPr txBox="1"/>
          <p:nvPr/>
        </p:nvSpPr>
        <p:spPr>
          <a:xfrm>
            <a:off x="4168816" y="3463724"/>
            <a:ext cx="38543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s-ES" sz="1600" dirty="0"/>
              <a:t>Se realizan ajustes según las nuevas propiedades disponibles en </a:t>
            </a:r>
            <a:r>
              <a:rPr lang="es-ES" sz="1600" dirty="0" err="1"/>
              <a:t>Flexbox</a:t>
            </a:r>
            <a:r>
              <a:rPr lang="es-ES" sz="1600" dirty="0"/>
              <a:t>.</a:t>
            </a:r>
            <a:endParaRPr kumimoji="0" lang="es-CO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 Light Roman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1142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D1149976-59ED-86DE-CAFB-F26E38C394F4}"/>
              </a:ext>
            </a:extLst>
          </p:cNvPr>
          <p:cNvSpPr/>
          <p:nvPr/>
        </p:nvSpPr>
        <p:spPr>
          <a:xfrm>
            <a:off x="3548551" y="3954050"/>
            <a:ext cx="5344743" cy="9787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1600" dirty="0">
                <a:solidFill>
                  <a:schemeClr val="bg1"/>
                </a:solidFill>
              </a:rPr>
              <a:t>En el proyecto Store Car se aplican cambios con </a:t>
            </a:r>
            <a:r>
              <a:rPr lang="es-ES" sz="1600" dirty="0" err="1">
                <a:solidFill>
                  <a:schemeClr val="bg1"/>
                </a:solidFill>
              </a:rPr>
              <a:t>Flexbox</a:t>
            </a:r>
            <a:r>
              <a:rPr lang="es-ES" sz="1600" dirty="0">
                <a:solidFill>
                  <a:schemeClr val="bg1"/>
                </a:solidFill>
              </a:rPr>
              <a:t> con el fin de ubicar los elementos de manera más ordenada, optimizar la presentación en diferentes resoluciones y facilitar la mantenibilidad del diseño.</a:t>
            </a:r>
            <a:endParaRPr lang="es-ES_tradnl" sz="1600" dirty="0">
              <a:solidFill>
                <a:schemeClr val="bg1"/>
              </a:solidFill>
              <a:latin typeface="WORK SANS REGULAR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5BFFB67-C3D4-337D-C327-AB25D270EADA}"/>
              </a:ext>
            </a:extLst>
          </p:cNvPr>
          <p:cNvSpPr txBox="1"/>
          <p:nvPr/>
        </p:nvSpPr>
        <p:spPr>
          <a:xfrm>
            <a:off x="4633676" y="2539470"/>
            <a:ext cx="29246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WORK SANS BOLD ROMAN" pitchFamily="2" charset="77"/>
              </a:rPr>
              <a:t>Objetivo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38CE8666-1D2A-4D01-34E5-54FD74A39FC0}"/>
              </a:ext>
            </a:extLst>
          </p:cNvPr>
          <p:cNvCxnSpPr>
            <a:cxnSpLocks/>
          </p:cNvCxnSpPr>
          <p:nvPr/>
        </p:nvCxnSpPr>
        <p:spPr>
          <a:xfrm>
            <a:off x="5013630" y="3555133"/>
            <a:ext cx="224754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184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951D1C-ACAB-30A9-933A-FC96DF28A2F0}"/>
              </a:ext>
            </a:extLst>
          </p:cNvPr>
          <p:cNvSpPr txBox="1">
            <a:spLocks/>
          </p:cNvSpPr>
          <p:nvPr/>
        </p:nvSpPr>
        <p:spPr>
          <a:xfrm>
            <a:off x="608170" y="465686"/>
            <a:ext cx="2657693" cy="105499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3600" b="1" dirty="0">
                <a:solidFill>
                  <a:srgbClr val="38AA00"/>
                </a:solidFill>
                <a:latin typeface="WORK SANS BOLD ROMAN" pitchFamily="2" charset="77"/>
              </a:rPr>
              <a:t>Propiedades Flexbox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F6697F3-B1A3-FADB-1243-D89866428CB1}"/>
              </a:ext>
            </a:extLst>
          </p:cNvPr>
          <p:cNvSpPr txBox="1"/>
          <p:nvPr/>
        </p:nvSpPr>
        <p:spPr>
          <a:xfrm>
            <a:off x="491908" y="2203545"/>
            <a:ext cx="3854368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1600" dirty="0">
                <a:latin typeface="Work Sans Light Roman" pitchFamily="2" charset="77"/>
              </a:rPr>
              <a:t>En la clase .</a:t>
            </a:r>
            <a:r>
              <a:rPr lang="es-ES" sz="1600" dirty="0" err="1">
                <a:latin typeface="Work Sans Light Roman" pitchFamily="2" charset="77"/>
              </a:rPr>
              <a:t>header</a:t>
            </a:r>
            <a:r>
              <a:rPr lang="es-ES" sz="1600" dirty="0">
                <a:latin typeface="Work Sans Light Roman" pitchFamily="2" charset="77"/>
              </a:rPr>
              <a:t> se implementa </a:t>
            </a:r>
            <a:r>
              <a:rPr lang="es-ES" sz="1600" dirty="0" err="1">
                <a:latin typeface="Work Sans Light Roman" pitchFamily="2" charset="77"/>
              </a:rPr>
              <a:t>Flexbox</a:t>
            </a:r>
            <a:r>
              <a:rPr lang="es-ES" sz="1600" dirty="0">
                <a:latin typeface="Work Sans Light Roman" pitchFamily="2" charset="77"/>
              </a:rPr>
              <a:t> para distribuir el espacio entre el texto y el menú de navegación. Además, se ajustan los textos para que mantengan flexibilidad en diferentes resoluciones.</a:t>
            </a:r>
          </a:p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1600" dirty="0">
                <a:latin typeface="Work Sans Light Roman" pitchFamily="2" charset="77"/>
              </a:rPr>
              <a:t>En este fragmento de código se aplica </a:t>
            </a:r>
            <a:r>
              <a:rPr lang="es-ES" sz="1600" dirty="0" err="1">
                <a:latin typeface="Work Sans Light Roman" pitchFamily="2" charset="77"/>
              </a:rPr>
              <a:t>Flexbox</a:t>
            </a:r>
            <a:r>
              <a:rPr lang="es-ES" sz="1600" dirty="0">
                <a:latin typeface="Work Sans Light Roman" pitchFamily="2" charset="77"/>
              </a:rPr>
              <a:t> a la clase .</a:t>
            </a:r>
            <a:r>
              <a:rPr lang="es-ES" sz="1600" dirty="0" err="1">
                <a:latin typeface="Work Sans Light Roman" pitchFamily="2" charset="77"/>
              </a:rPr>
              <a:t>hero</a:t>
            </a:r>
            <a:r>
              <a:rPr lang="es-ES" sz="1600" dirty="0">
                <a:latin typeface="Work Sans Light Roman" pitchFamily="2" charset="77"/>
              </a:rPr>
              <a:t>__</a:t>
            </a:r>
            <a:r>
              <a:rPr lang="es-ES" sz="1600" dirty="0" err="1">
                <a:latin typeface="Work Sans Light Roman" pitchFamily="2" charset="77"/>
              </a:rPr>
              <a:t>title</a:t>
            </a:r>
            <a:r>
              <a:rPr lang="es-ES" sz="1600" dirty="0">
                <a:latin typeface="Work Sans Light Roman" pitchFamily="2" charset="77"/>
              </a:rPr>
              <a:t> para controlar la forma en que se organizan sus elementos internos.</a:t>
            </a:r>
          </a:p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1600" dirty="0">
                <a:latin typeface="Work Sans Light Roman" pitchFamily="2" charset="77"/>
              </a:rPr>
              <a:t>En la clase .</a:t>
            </a:r>
            <a:r>
              <a:rPr lang="es-ES" sz="1600" dirty="0" err="1">
                <a:latin typeface="Work Sans Light Roman" pitchFamily="2" charset="77"/>
              </a:rPr>
              <a:t>hero</a:t>
            </a:r>
            <a:r>
              <a:rPr lang="es-ES" sz="1600" dirty="0">
                <a:latin typeface="Work Sans Light Roman" pitchFamily="2" charset="77"/>
              </a:rPr>
              <a:t>__</a:t>
            </a:r>
            <a:r>
              <a:rPr lang="es-ES" sz="1600" dirty="0" err="1">
                <a:latin typeface="Work Sans Light Roman" pitchFamily="2" charset="77"/>
              </a:rPr>
              <a:t>text</a:t>
            </a:r>
            <a:r>
              <a:rPr lang="es-ES" sz="1600" dirty="0">
                <a:latin typeface="Work Sans Light Roman" pitchFamily="2" charset="77"/>
              </a:rPr>
              <a:t> se utiliza </a:t>
            </a:r>
            <a:r>
              <a:rPr lang="es-ES" sz="1600" dirty="0" err="1">
                <a:latin typeface="Work Sans Light Roman" pitchFamily="2" charset="77"/>
              </a:rPr>
              <a:t>Flexbox</a:t>
            </a:r>
            <a:r>
              <a:rPr lang="es-ES" sz="1600" dirty="0">
                <a:latin typeface="Work Sans Light Roman" pitchFamily="2" charset="77"/>
              </a:rPr>
              <a:t> para organizar sus elementos internos.</a:t>
            </a:r>
          </a:p>
          <a:p>
            <a:pPr algn="just"/>
            <a:endParaRPr lang="es-ES" sz="1600" dirty="0">
              <a:latin typeface="Work Sans Light Roman" pitchFamily="2" charset="77"/>
            </a:endParaRPr>
          </a:p>
          <a:p>
            <a:pPr algn="just"/>
            <a:endParaRPr lang="es-ES" sz="1600" dirty="0">
              <a:latin typeface="Work Sans Light Roman" pitchFamily="2" charset="77"/>
            </a:endParaRPr>
          </a:p>
          <a:p>
            <a:endParaRPr lang="es-ES" sz="1600" dirty="0">
              <a:latin typeface="Work Sans Light Roman" pitchFamily="2" charset="77"/>
            </a:endParaRPr>
          </a:p>
          <a:p>
            <a:endParaRPr lang="es-CO" sz="1600" dirty="0">
              <a:latin typeface="Work Sans Light Roman" pitchFamily="2" charset="77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669DD18A-AB54-34AC-A662-0BDC60B050FF}"/>
              </a:ext>
            </a:extLst>
          </p:cNvPr>
          <p:cNvCxnSpPr>
            <a:cxnSpLocks/>
          </p:cNvCxnSpPr>
          <p:nvPr/>
        </p:nvCxnSpPr>
        <p:spPr>
          <a:xfrm>
            <a:off x="717352" y="1644964"/>
            <a:ext cx="1425934" cy="0"/>
          </a:xfrm>
          <a:prstGeom prst="line">
            <a:avLst/>
          </a:prstGeom>
          <a:ln w="12700">
            <a:solidFill>
              <a:srgbClr val="4D4D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n 4">
            <a:extLst>
              <a:ext uri="{FF2B5EF4-FFF2-40B4-BE49-F238E27FC236}">
                <a16:creationId xmlns:a16="http://schemas.microsoft.com/office/drawing/2014/main" id="{8CF796E1-D75F-4E5D-9E06-AE19B39DB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021" y="1201855"/>
            <a:ext cx="6981071" cy="1484764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161B97F3-2DF9-4A27-85B5-955F94026FE5}"/>
              </a:ext>
            </a:extLst>
          </p:cNvPr>
          <p:cNvSpPr/>
          <p:nvPr/>
        </p:nvSpPr>
        <p:spPr>
          <a:xfrm>
            <a:off x="3048000" y="2828836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s-CO" dirty="0">
                <a:solidFill>
                  <a:srgbClr val="D7BA7D"/>
                </a:solidFill>
                <a:latin typeface="JetBrains Mono NL" panose="02000009000000000000" pitchFamily="49" charset="0"/>
              </a:rPr>
              <a:t>. </a:t>
            </a:r>
            <a:endParaRPr lang="es-CO" b="0" dirty="0">
              <a:solidFill>
                <a:srgbClr val="CCCCCC"/>
              </a:solidFill>
              <a:effectLst/>
              <a:latin typeface="JetBrains Mono NL" panose="02000009000000000000" pitchFamily="49" charset="0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740E6960-398F-4865-944E-5DEA077FE1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9021" y="2809352"/>
            <a:ext cx="6981071" cy="159335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249AD69-6F50-420A-8459-703BFE8016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9021" y="4612331"/>
            <a:ext cx="6981070" cy="178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00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A9DEAF45-54BD-419B-8333-7063E4EC4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584" y="3429000"/>
            <a:ext cx="6791864" cy="170294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F8973B7-D705-496E-8826-39D2383DD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3584" y="984033"/>
            <a:ext cx="6791864" cy="188995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0320B58-4918-4C1E-BE0B-3F9237BD7D41}"/>
              </a:ext>
            </a:extLst>
          </p:cNvPr>
          <p:cNvSpPr txBox="1"/>
          <p:nvPr/>
        </p:nvSpPr>
        <p:spPr>
          <a:xfrm>
            <a:off x="497370" y="2288205"/>
            <a:ext cx="385436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1600" dirty="0">
                <a:latin typeface="Work Sans Light Roman" pitchFamily="2" charset="77"/>
              </a:rPr>
              <a:t>En la tarjeta con la clase .</a:t>
            </a:r>
            <a:r>
              <a:rPr lang="es-ES" sz="1600" dirty="0" err="1">
                <a:latin typeface="Work Sans Light Roman" pitchFamily="2" charset="77"/>
              </a:rPr>
              <a:t>product-list</a:t>
            </a:r>
            <a:r>
              <a:rPr lang="es-ES" sz="1600" dirty="0">
                <a:latin typeface="Work Sans Light Roman" pitchFamily="2" charset="77"/>
              </a:rPr>
              <a:t> se implementan estilos flexibles para mejorar la distribución de su contenido.</a:t>
            </a:r>
          </a:p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1600" dirty="0">
                <a:latin typeface="Work Sans Light Roman" pitchFamily="2" charset="77"/>
              </a:rPr>
              <a:t>En las tarjetas .producto-</a:t>
            </a:r>
            <a:r>
              <a:rPr lang="es-ES" sz="1600" dirty="0" err="1">
                <a:latin typeface="Work Sans Light Roman" pitchFamily="2" charset="77"/>
              </a:rPr>
              <a:t>list</a:t>
            </a:r>
            <a:r>
              <a:rPr lang="es-ES" sz="1600" dirty="0">
                <a:latin typeface="Work Sans Light Roman" pitchFamily="2" charset="77"/>
              </a:rPr>
              <a:t>__ítem, el contenido se estructura en columna para lograr una distribución más ordenada</a:t>
            </a:r>
            <a:endParaRPr lang="es-CO" sz="1600" dirty="0">
              <a:latin typeface="Work Sans Light Roman" pitchFamily="2" charset="77"/>
            </a:endParaRPr>
          </a:p>
          <a:p>
            <a:pPr algn="just"/>
            <a:r>
              <a:rPr lang="es-CO" sz="1600" dirty="0">
                <a:latin typeface="Work Sans Light Roman" pitchFamily="2" charset="77"/>
              </a:rPr>
              <a:t> </a:t>
            </a:r>
          </a:p>
          <a:p>
            <a:pPr algn="just"/>
            <a:endParaRPr lang="es-CO" sz="1600" dirty="0">
              <a:latin typeface="Work Sans Light Roman" pitchFamily="2" charset="77"/>
            </a:endParaRPr>
          </a:p>
          <a:p>
            <a:endParaRPr lang="es-CO" sz="1600" dirty="0">
              <a:latin typeface="Work Sans Light Roman" pitchFamily="2" charset="77"/>
            </a:endParaRPr>
          </a:p>
          <a:p>
            <a:endParaRPr lang="es-CO" sz="1600" dirty="0">
              <a:latin typeface="Work Sans Light Rom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651124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09E854F-9B53-A812-C491-601ACAA432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84" y="2101238"/>
            <a:ext cx="5372262" cy="364633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984AB62-3BF5-468A-C798-1CFB9C6406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01238"/>
            <a:ext cx="5485078" cy="3646333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8BE38E47-88E2-45E8-8950-9EE341249105}"/>
              </a:ext>
            </a:extLst>
          </p:cNvPr>
          <p:cNvSpPr txBox="1"/>
          <p:nvPr/>
        </p:nvSpPr>
        <p:spPr>
          <a:xfrm>
            <a:off x="754040" y="430611"/>
            <a:ext cx="36405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dirty="0">
                <a:solidFill>
                  <a:schemeClr val="bg1"/>
                </a:solidFill>
                <a:latin typeface="Work Sans Bold Roman"/>
              </a:rPr>
              <a:t>F</a:t>
            </a:r>
            <a:r>
              <a:rPr lang="es-CO" sz="3600" dirty="0" err="1">
                <a:solidFill>
                  <a:schemeClr val="bg1"/>
                </a:solidFill>
                <a:latin typeface="Work Sans Bold Roman"/>
              </a:rPr>
              <a:t>ormularios</a:t>
            </a:r>
            <a:endParaRPr lang="es-CO" sz="3600" dirty="0">
              <a:solidFill>
                <a:schemeClr val="bg1"/>
              </a:solidFill>
              <a:latin typeface="Work Sans Bold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0389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865669" y="555343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Dificultades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6C31FC2-6C63-0CB9-C78D-1723D5E9DD66}"/>
              </a:ext>
            </a:extLst>
          </p:cNvPr>
          <p:cNvSpPr txBox="1"/>
          <p:nvPr/>
        </p:nvSpPr>
        <p:spPr>
          <a:xfrm>
            <a:off x="688247" y="1774578"/>
            <a:ext cx="5518437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AutoNum type="arabicPeriod"/>
            </a:pPr>
            <a:r>
              <a:rPr lang="es-ES" sz="1600" dirty="0">
                <a:latin typeface="Work Sans Light Roman" pitchFamily="2" charset="77"/>
              </a:rPr>
              <a:t>Al utilizar la propiedad </a:t>
            </a:r>
            <a:r>
              <a:rPr lang="es-ES" sz="1600" dirty="0" err="1">
                <a:latin typeface="Work Sans Light Roman" pitchFamily="2" charset="77"/>
              </a:rPr>
              <a:t>Flexbox</a:t>
            </a:r>
            <a:r>
              <a:rPr lang="es-ES" sz="1600" dirty="0">
                <a:latin typeface="Work Sans Light Roman" pitchFamily="2" charset="77"/>
              </a:rPr>
              <a:t>, el contenido de las tarjetas se separó de las imágenes, lo que obligó a realizar ajustes adicionales en la maquetación. Para organizar las tarjetas en fila fue necesario aplicar las propiedades </a:t>
            </a:r>
            <a:r>
              <a:rPr lang="es-ES" sz="1600" dirty="0" err="1">
                <a:latin typeface="Work Sans Light Roman" pitchFamily="2" charset="77"/>
              </a:rPr>
              <a:t>flex-direction</a:t>
            </a:r>
            <a:r>
              <a:rPr lang="es-ES" sz="1600" dirty="0">
                <a:latin typeface="Work Sans Light Roman" pitchFamily="2" charset="77"/>
              </a:rPr>
              <a:t> y </a:t>
            </a:r>
            <a:r>
              <a:rPr lang="es-ES" sz="1600" dirty="0" err="1">
                <a:latin typeface="Work Sans Light Roman" pitchFamily="2" charset="77"/>
              </a:rPr>
              <a:t>flex-wrap</a:t>
            </a:r>
            <a:r>
              <a:rPr lang="es-ES" sz="1600" dirty="0">
                <a:latin typeface="Work Sans Light Roman" pitchFamily="2" charset="77"/>
              </a:rPr>
              <a:t>.</a:t>
            </a:r>
          </a:p>
          <a:p>
            <a:pPr marL="342900" indent="-342900" algn="just">
              <a:buAutoNum type="arabicPeriod"/>
            </a:pPr>
            <a:r>
              <a:rPr lang="es-ES" sz="1600" dirty="0">
                <a:latin typeface="Work Sans Light Roman" pitchFamily="2" charset="77"/>
              </a:rPr>
              <a:t>La alineación vertical de los elementos puede resultar confusa al combinar propiedades como </a:t>
            </a:r>
            <a:r>
              <a:rPr lang="es-ES" sz="1600" dirty="0" err="1">
                <a:latin typeface="Work Sans Light Roman" pitchFamily="2" charset="77"/>
              </a:rPr>
              <a:t>align-items</a:t>
            </a:r>
            <a:r>
              <a:rPr lang="es-ES" sz="1600" dirty="0">
                <a:latin typeface="Work Sans Light Roman" pitchFamily="2" charset="77"/>
              </a:rPr>
              <a:t> y </a:t>
            </a:r>
            <a:r>
              <a:rPr lang="es-ES" sz="1600" dirty="0" err="1">
                <a:latin typeface="Work Sans Light Roman" pitchFamily="2" charset="77"/>
              </a:rPr>
              <a:t>justify-content</a:t>
            </a:r>
            <a:r>
              <a:rPr lang="es-ES" sz="1600" dirty="0">
                <a:latin typeface="Work Sans Light Roman" pitchFamily="2" charset="77"/>
              </a:rPr>
              <a:t>.</a:t>
            </a:r>
          </a:p>
          <a:p>
            <a:pPr marL="342900" indent="-342900" algn="just">
              <a:buAutoNum type="arabicPeriod"/>
            </a:pPr>
            <a:r>
              <a:rPr lang="es-ES" sz="1600" dirty="0">
                <a:latin typeface="Work Sans Light Roman" pitchFamily="2" charset="77"/>
              </a:rPr>
              <a:t>En diseños con muchos elementos, algunos contenedores no se ajustan como se espera, lo que genera desbordes o espacios vacíos.</a:t>
            </a:r>
          </a:p>
          <a:p>
            <a:pPr marL="342900" indent="-342900" algn="just">
              <a:buAutoNum type="arabicPeriod"/>
            </a:pPr>
            <a:r>
              <a:rPr lang="es-ES" sz="1600" dirty="0"/>
              <a:t>La compatibilidad entre navegadores antiguos puede ocasionar inconsistencias en la visualización.</a:t>
            </a:r>
            <a:endParaRPr lang="es-CO" sz="1600" dirty="0">
              <a:latin typeface="Work Sans Light Roman" pitchFamily="2" charset="77"/>
            </a:endParaRPr>
          </a:p>
          <a:p>
            <a:pPr marL="342900" indent="-342900">
              <a:buAutoNum type="arabicPeriod"/>
            </a:pPr>
            <a:endParaRPr lang="es-CO" sz="1600" dirty="0">
              <a:latin typeface="Work Sans Light Roman" pitchFamily="2" charset="77"/>
            </a:endParaRPr>
          </a:p>
          <a:p>
            <a:pPr marL="342900" indent="-342900">
              <a:buAutoNum type="arabicPeriod"/>
            </a:pPr>
            <a:endParaRPr lang="es-CO" sz="1600" dirty="0">
              <a:latin typeface="Work Sans Light Roman" pitchFamily="2" charset="77"/>
            </a:endParaRPr>
          </a:p>
        </p:txBody>
      </p:sp>
      <p:pic>
        <p:nvPicPr>
          <p:cNvPr id="6" name="Imagen 5" descr="Pantalla azul con letras blancas&#10;&#10;El contenido generado por IA puede ser incorrecto.">
            <a:extLst>
              <a:ext uri="{FF2B5EF4-FFF2-40B4-BE49-F238E27FC236}">
                <a16:creationId xmlns:a16="http://schemas.microsoft.com/office/drawing/2014/main" id="{A89E6AD6-2DF5-D0A3-B7EA-740ED22B1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939" y="1818202"/>
            <a:ext cx="5210125" cy="322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058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B6F714C-A6B0-54AE-507A-D0700714D94B}"/>
              </a:ext>
            </a:extLst>
          </p:cNvPr>
          <p:cNvSpPr txBox="1">
            <a:spLocks/>
          </p:cNvSpPr>
          <p:nvPr/>
        </p:nvSpPr>
        <p:spPr>
          <a:xfrm>
            <a:off x="456236" y="416690"/>
            <a:ext cx="9815809" cy="5278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3600" b="1" dirty="0">
                <a:solidFill>
                  <a:prstClr val="white"/>
                </a:solidFill>
                <a:latin typeface="WORK SANS BOLD ROMAN" pitchFamily="2" charset="77"/>
              </a:rPr>
              <a:t>R</a:t>
            </a:r>
            <a:r>
              <a:rPr lang="es-CO" sz="3600" b="1" dirty="0" err="1">
                <a:solidFill>
                  <a:prstClr val="white"/>
                </a:solidFill>
                <a:latin typeface="WORK SANS BOLD ROMAN" pitchFamily="2" charset="77"/>
              </a:rPr>
              <a:t>esultados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065F58A-46D6-4B59-B410-86080F169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337" y="3931633"/>
            <a:ext cx="6546019" cy="234687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8672F5B-1C5F-D5F0-67F1-3BBA2FE10F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362" y="1929555"/>
            <a:ext cx="2158980" cy="4004155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320CAF6-31F8-A238-2BD5-BDD577CF7996}"/>
              </a:ext>
            </a:extLst>
          </p:cNvPr>
          <p:cNvSpPr txBox="1"/>
          <p:nvPr/>
        </p:nvSpPr>
        <p:spPr>
          <a:xfrm>
            <a:off x="240015" y="1929555"/>
            <a:ext cx="6670344" cy="14809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dirty="0"/>
              <a:t>En la Store Car, se aplicaron cambios utilizando </a:t>
            </a:r>
            <a:r>
              <a:rPr lang="es-ES" dirty="0" err="1"/>
              <a:t>Flexbox</a:t>
            </a:r>
            <a:r>
              <a:rPr lang="es-ES" dirty="0"/>
              <a:t> para mejorar el diseño y la presentación del sitio web. El objetivo principal fue organizar los elementos de manera más ordenada, optimizar la visualización en diferentes resoluciones de pantalla y simplificar el mantenimiento del diseño.</a:t>
            </a:r>
            <a:endParaRPr lang="es-CO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D1FC3C0-8C33-EA82-94EB-8C5C2C0351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8673" y="1929555"/>
            <a:ext cx="2015697" cy="4043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292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46266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4327</TotalTime>
  <Words>326</Words>
  <Application>Microsoft Office PowerPoint</Application>
  <PresentationFormat>Panorámica</PresentationFormat>
  <Paragraphs>26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20" baseType="lpstr">
      <vt:lpstr>Arial</vt:lpstr>
      <vt:lpstr>Calibri</vt:lpstr>
      <vt:lpstr>Calibri Light</vt:lpstr>
      <vt:lpstr>JetBrains Mono NL</vt:lpstr>
      <vt:lpstr>Wingdings</vt:lpstr>
      <vt:lpstr>WORK SANS BOLD ROMAN</vt:lpstr>
      <vt:lpstr>WORK SANS BOLD ROMAN</vt:lpstr>
      <vt:lpstr>Work Sans Light Roman</vt:lpstr>
      <vt:lpstr>Work Sans Medium Roman</vt:lpstr>
      <vt:lpstr>WORK SANS REGULAR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lastModifiedBy>DELL</cp:lastModifiedBy>
  <cp:revision>74</cp:revision>
  <dcterms:created xsi:type="dcterms:W3CDTF">2020-10-01T23:51:28Z</dcterms:created>
  <dcterms:modified xsi:type="dcterms:W3CDTF">2025-08-30T22:31:25Z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